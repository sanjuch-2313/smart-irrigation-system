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3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E48FA-5AAE-B04A-B4F6-D3CF9A3DED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77A1207E-A801-074E-81CB-FD346F189691}">
      <dgm:prSet/>
      <dgm:spPr/>
      <dgm:t>
        <a:bodyPr/>
        <a:lstStyle/>
        <a:p>
          <a:r>
            <a:rPr lang="en-US" b="1"/>
            <a:t>Smart Irrigation Optimization System</a:t>
          </a:r>
          <a:endParaRPr lang="en-IN"/>
        </a:p>
      </dgm:t>
    </dgm:pt>
    <dgm:pt modelId="{B66108C1-3E43-A544-B853-4038CF72A014}" type="parTrans" cxnId="{37DA5538-98D0-C545-84A3-3AAD756B01BA}">
      <dgm:prSet/>
      <dgm:spPr/>
      <dgm:t>
        <a:bodyPr/>
        <a:lstStyle/>
        <a:p>
          <a:endParaRPr lang="en-GB"/>
        </a:p>
      </dgm:t>
    </dgm:pt>
    <dgm:pt modelId="{CD7548C3-82E7-7A41-B9E6-F37D63B741E2}" type="sibTrans" cxnId="{37DA5538-98D0-C545-84A3-3AAD756B01BA}">
      <dgm:prSet/>
      <dgm:spPr/>
      <dgm:t>
        <a:bodyPr/>
        <a:lstStyle/>
        <a:p>
          <a:endParaRPr lang="en-GB"/>
        </a:p>
      </dgm:t>
    </dgm:pt>
    <dgm:pt modelId="{951590E1-E644-DB46-B0C5-A09A9F192ABE}" type="pres">
      <dgm:prSet presAssocID="{18DE48FA-5AAE-B04A-B4F6-D3CF9A3DEDCF}" presName="linear" presStyleCnt="0">
        <dgm:presLayoutVars>
          <dgm:animLvl val="lvl"/>
          <dgm:resizeHandles val="exact"/>
        </dgm:presLayoutVars>
      </dgm:prSet>
      <dgm:spPr/>
    </dgm:pt>
    <dgm:pt modelId="{35E579B4-F331-BC44-B019-F3EC19354CAD}" type="pres">
      <dgm:prSet presAssocID="{77A1207E-A801-074E-81CB-FD346F18969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7DA5538-98D0-C545-84A3-3AAD756B01BA}" srcId="{18DE48FA-5AAE-B04A-B4F6-D3CF9A3DEDCF}" destId="{77A1207E-A801-074E-81CB-FD346F189691}" srcOrd="0" destOrd="0" parTransId="{B66108C1-3E43-A544-B853-4038CF72A014}" sibTransId="{CD7548C3-82E7-7A41-B9E6-F37D63B741E2}"/>
    <dgm:cxn modelId="{A4AA1A63-BF96-4D44-A760-A31B72433B03}" type="presOf" srcId="{77A1207E-A801-074E-81CB-FD346F189691}" destId="{35E579B4-F331-BC44-B019-F3EC19354CAD}" srcOrd="0" destOrd="0" presId="urn:microsoft.com/office/officeart/2005/8/layout/vList2"/>
    <dgm:cxn modelId="{C1CA11F5-0BA1-E446-9CAE-D608292B89BB}" type="presOf" srcId="{18DE48FA-5AAE-B04A-B4F6-D3CF9A3DEDCF}" destId="{951590E1-E644-DB46-B0C5-A09A9F192ABE}" srcOrd="0" destOrd="0" presId="urn:microsoft.com/office/officeart/2005/8/layout/vList2"/>
    <dgm:cxn modelId="{751BF514-CC60-9B4D-AC8F-DF4BEB48D560}" type="presParOf" srcId="{951590E1-E644-DB46-B0C5-A09A9F192ABE}" destId="{35E579B4-F331-BC44-B019-F3EC19354CA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579B4-F331-BC44-B019-F3EC19354CAD}">
      <dsp:nvSpPr>
        <dsp:cNvPr id="0" name=""/>
        <dsp:cNvSpPr/>
      </dsp:nvSpPr>
      <dsp:spPr>
        <a:xfrm>
          <a:off x="0" y="9495"/>
          <a:ext cx="91440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Smart Irrigation Optimization System</a:t>
          </a:r>
          <a:endParaRPr lang="en-IN" sz="2900" kern="1200"/>
        </a:p>
      </dsp:txBody>
      <dsp:txXfrm>
        <a:off x="34783" y="44278"/>
        <a:ext cx="9074434" cy="642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0D76-E94B-7FFE-B2CD-A4A511A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DD69E-7D61-28A5-ED1F-52E4C4BB9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EDAA3-7F07-CBD2-1CC9-284BC8A7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629D5-BC76-2F78-A134-B2A775C6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DF80-14E1-C8A8-D3A0-82DAA997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4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67ED-0EC8-4CDF-7C34-D3C4AD2B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098D3-DE16-1DD4-F903-D7D1A7031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D08A-FBEF-9FCB-1B46-C4C8DBB0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52AEB-E557-BC87-F6C2-107FB9A6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79BCE-D632-58E9-4048-75909F4C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4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23C3-340A-7F3F-6696-9409D8BC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F6FFB-FBBF-4D7F-37CD-7B51A6B2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36FC5-2E97-6FA4-8BDE-F8265589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FE0FF-C634-B2E5-9AA3-89274170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1E166-D580-CCE4-9E98-492876EE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1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1421-6D65-48A2-E1F4-6E339AD1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108A-4C4C-3E8A-5B04-63EE5610E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357E4-7D65-C5F2-1259-EF00C9BC4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7A21B-5ED1-1891-0D88-6234641D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7A58-A057-BFEB-1588-24CFD517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131BD-BDE4-DE89-E976-48827687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7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1B1B-9963-4C84-FB15-390B35F70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76E80-729A-3729-97CC-57C97855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7E133-74BC-100C-2BC0-174A3053C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8DB31-DDE0-8D5B-616F-6732E203F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597AD-4133-E71E-397F-8998F3BF5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5CE9E-A549-AA51-6D4A-68CDC98C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A3866-8B1F-5A4A-FB31-39CA8780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D6093-9610-7AB5-16B0-8BE314F7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53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F623-2515-C9FD-F76A-6FA40315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ACE54-6CF7-4728-70FA-F38DE9F6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4C15D-DC19-96F1-A54F-A0B85334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DAE85-0120-7782-2E26-BE3A7040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2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A922D-B583-F266-A35E-83A47D2F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A29E5-4B9A-AEA3-D3D2-595094E3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024E5-33FD-D748-1C1A-8427C7AF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8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CD96-03D5-EE3A-43A8-5F065506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5103-74C8-B911-363D-A4FD5A26C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EA550-3E9A-AA4D-6480-7AEFB164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07146-7F89-C570-3962-67155A21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A8F05-F246-E4DB-F521-8981ADA3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73791-D14A-9C7B-6EFB-0C8870E7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4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C8F8-0F37-2C0B-4934-77000E33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08609-7523-A9DE-22E6-762F78F99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18765-DC9D-3644-CB6A-C18F16DD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A115D-F43C-0DF3-6B30-6975A3A1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0DFF0-BC54-F6EA-000D-BE97CEC4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F477A-EB82-4B52-119E-936D555C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60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8B95-6522-CB84-47ED-57BC68B5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AD9AA-160F-8BCB-C27F-0DFDB92FF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66BCD-1798-2AA2-D16D-9AA661E4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AB843-CCF4-ED25-CC9B-631C7719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EBEB0-967E-A1FB-97A5-CA47E05C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42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1C25E-956B-E3FE-96DE-36B5E369B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80439-C191-7ED0-A1D9-A816073F6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64C0F-3ACD-E305-E72B-F450CD80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9117-B86E-8EBC-3F47-0E839361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7CC5-8925-278D-C4D9-A58A1F4F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05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6F79B-E1A5-D3C5-C0EF-7664CA8E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7B7D9-7CC5-184D-24DC-C18C6E033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4300E-D0D8-13C2-CD58-4376F2C84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CE572-C3E8-48C0-B652-5A0D5776B098}" type="datetimeFigureOut">
              <a:rPr lang="en-IN" smtClean="0"/>
              <a:t>06/04/26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7754D-BD74-6BE9-ECCB-150959279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C1B74-C925-7F01-4C43-6A691F246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2F174-33E7-42BB-9F1D-F5FBF9A0A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7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8EBBF-DCBF-90C4-A6F3-B1BB97B6C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3313" y="0"/>
            <a:ext cx="190386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26C88A-4252-150A-0B31-C675533E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1"/>
            <a:ext cx="10515600" cy="143256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ST-09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Water Management System for Farmers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2AD80-2A7A-0EDC-9467-FC542C2AB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Team members:</a:t>
            </a:r>
          </a:p>
          <a:p>
            <a:pPr marL="0" indent="0">
              <a:buNone/>
            </a:pPr>
            <a:r>
              <a:rPr lang="en-IN" dirty="0"/>
              <a:t>Sanju -2303A52313</a:t>
            </a:r>
          </a:p>
          <a:p>
            <a:pPr marL="0" indent="0">
              <a:buNone/>
            </a:pPr>
            <a:r>
              <a:rPr lang="en-IN" dirty="0"/>
              <a:t>Srinidhi -2303A53023</a:t>
            </a:r>
          </a:p>
          <a:p>
            <a:pPr marL="0" indent="0">
              <a:buNone/>
            </a:pPr>
            <a:r>
              <a:rPr lang="en-IN" dirty="0"/>
              <a:t>Hemanth -2303A52259</a:t>
            </a:r>
          </a:p>
          <a:p>
            <a:pPr marL="0" indent="0">
              <a:buNone/>
            </a:pPr>
            <a:r>
              <a:rPr lang="en-IN" dirty="0"/>
              <a:t>Hanush Vardhan-2303A52169</a:t>
            </a:r>
          </a:p>
        </p:txBody>
      </p:sp>
    </p:spTree>
    <p:extLst>
      <p:ext uri="{BB962C8B-B14F-4D97-AF65-F5344CB8AC3E}">
        <p14:creationId xmlns:p14="http://schemas.microsoft.com/office/powerpoint/2010/main" val="405358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931 0.08617" pathEditMode="relative" ptsTypes="AA">
                                      <p:cBhvr>
                                        <p:cTn id="6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13931 0.08617 L 0.45401 -0.08503" pathEditMode="relative" ptsTypes="AA">
                                      <p:cBhvr>
                                        <p:cTn id="11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45401 -0.08503 L -0.20699 -0.24861" pathEditMode="relative" ptsTypes="AA">
                                      <p:cBhvr>
                                        <p:cTn id="14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0699 -0.24861 L 0 0" pathEditMode="relative" ptsTypes="AA">
                                      <p:cBhvr>
                                        <p:cTn id="17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9" dur="30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2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64CA02-4D9D-97FB-E98A-25A79D8725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9639"/>
            <a:ext cx="12192000" cy="8397278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BF14357-A3CE-C114-D632-ACE10FB68824}"/>
              </a:ext>
            </a:extLst>
          </p:cNvPr>
          <p:cNvGraphicFramePr/>
          <p:nvPr/>
        </p:nvGraphicFramePr>
        <p:xfrm>
          <a:off x="1524000" y="457199"/>
          <a:ext cx="9144000" cy="731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29E75F3C-C34A-7A26-0AA2-889AC85CA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720" y="1361440"/>
            <a:ext cx="10515600" cy="5496559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reduce water and electricity wastage by replacing fixed irrigation schedules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inputs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soil moisture, weather forecast, and crop requirements.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based on three key decision layers, as follows: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Intelligence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Measures real-time soil moisture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Prevents irrigation if moisture is sufficient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Weather-Aware Irrigation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Uses weather APIs to predict rainfall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Avoids irrigation before rain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Crop-Based Optimization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Calculates exact water needs based on crop stage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Ensures precise irrigation duration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32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922 -0.41695" pathEditMode="relative" ptsTypes="AA">
                                      <p:cBhvr>
                                        <p:cTn id="6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41695 L -0.02313 -0.41695" pathEditMode="relative" ptsTypes="AA">
                                      <p:cBhvr>
                                        <p:cTn id="11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2313 -0.41695 L -0.24922 0.06413" pathEditMode="relative" ptsTypes="AA">
                                      <p:cBhvr>
                                        <p:cTn id="14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0.06413 L 0.13569 0.11535" pathEditMode="relative" ptsTypes="AA">
                                      <p:cBhvr>
                                        <p:cTn id="17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13569 0.11535 L 0.24922 -0.12236" pathEditMode="relative" ptsTypes="AA">
                                      <p:cBhvr>
                                        <p:cTn id="20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-0.12236 L 0 0" pathEditMode="relative" ptsTypes="AA">
                                      <p:cBhvr>
                                        <p:cTn id="23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5" dur="30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5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16C5-5D50-8F97-4810-CBEE4188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IN" dirty="0"/>
              <a:t>APPROACH: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B31AF69-A113-7AA2-9F46-3B68F536A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760" y="1087120"/>
            <a:ext cx="9286240" cy="508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7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A958C77-9CD7-6728-EAF6-18DB083E1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9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08D921A-A08F-26DC-E0B1-D328486FF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9827" y="2011680"/>
            <a:ext cx="5183188" cy="43100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 &amp; Practical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52B809-E93D-6EF9-6FB1-508FD7BC50CF}"/>
              </a:ext>
            </a:extLst>
          </p:cNvPr>
          <p:cNvSpPr/>
          <p:nvPr/>
        </p:nvSpPr>
        <p:spPr>
          <a:xfrm>
            <a:off x="788985" y="193040"/>
            <a:ext cx="5183188" cy="29768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(Frontend, Backend, Weather APIs)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hardware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manual input (demo-ready)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easily extended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Arduino/IoT 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future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rule-based logic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reliable decisions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D979E-5728-F201-4A56-2099D31E3C55}"/>
              </a:ext>
            </a:extLst>
          </p:cNvPr>
          <p:cNvSpPr/>
          <p:nvPr/>
        </p:nvSpPr>
        <p:spPr>
          <a:xfrm>
            <a:off x="6228080" y="193040"/>
            <a:ext cx="5183188" cy="29768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30–50% water usage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25–40% electricity consumption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implementation cost (only smartphone required initially)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on Investment (ROI)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farmers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874704-0A94-01B8-3704-A4C11DE65185}"/>
              </a:ext>
            </a:extLst>
          </p:cNvPr>
          <p:cNvSpPr/>
          <p:nvPr/>
        </p:nvSpPr>
        <p:spPr>
          <a:xfrm>
            <a:off x="780732" y="3515359"/>
            <a:ext cx="5191441" cy="297687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rural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new 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sensors for full hardware deployment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35D588-B3AD-1D9C-C33F-AF501DF63B36}"/>
              </a:ext>
            </a:extLst>
          </p:cNvPr>
          <p:cNvSpPr/>
          <p:nvPr/>
        </p:nvSpPr>
        <p:spPr>
          <a:xfrm>
            <a:off x="6219827" y="3251200"/>
            <a:ext cx="5303199" cy="297688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offline/manual input 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 → only shows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Irrigate / Skip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integration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officers/family members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needed</a:t>
            </a:r>
          </a:p>
        </p:txBody>
      </p:sp>
    </p:spTree>
    <p:extLst>
      <p:ext uri="{BB962C8B-B14F-4D97-AF65-F5344CB8AC3E}">
        <p14:creationId xmlns:p14="http://schemas.microsoft.com/office/powerpoint/2010/main" val="137516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065 0.17254" pathEditMode="relative" ptsTypes="AA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2065 0.17254 L 0.25257 0.19374" pathEditMode="relative" ptsTypes="AA">
                                      <p:cBhvr>
                                        <p:cTn id="11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5257 0.19374 L 0.19587 -0.1681" pathEditMode="relative" ptsTypes="AA">
                                      <p:cBhvr>
                                        <p:cTn id="14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19587 -0.1681 L -0.24783 -0.17586" pathEditMode="relative" ptsTypes="AA">
                                      <p:cBhvr>
                                        <p:cTn id="17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783 -0.17586 L 0 0" pathEditMode="relative" ptsTypes="AA">
                                      <p:cBhvr>
                                        <p:cTn id="20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2" dur="3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5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788DA-FDF8-4868-8305-0CFB6056B8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1082"/>
            <a:ext cx="12192000" cy="81001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3C0729-0C8A-52C3-4FE0-E62C46EEC959}"/>
              </a:ext>
            </a:extLst>
          </p:cNvPr>
          <p:cNvSpPr/>
          <p:nvPr/>
        </p:nvSpPr>
        <p:spPr>
          <a:xfrm>
            <a:off x="4104640" y="1681476"/>
            <a:ext cx="4907280" cy="6578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1. Efficient Water Conservation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4DBCE-99B0-4050-36DD-610376E191E3}"/>
              </a:ext>
            </a:extLst>
          </p:cNvPr>
          <p:cNvSpPr/>
          <p:nvPr/>
        </p:nvSpPr>
        <p:spPr>
          <a:xfrm>
            <a:off x="4104640" y="2773671"/>
            <a:ext cx="4907280" cy="51815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2. Reduced Electricity Consumption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3D008-CF93-F6C7-2C12-8BC142BB9271}"/>
              </a:ext>
            </a:extLst>
          </p:cNvPr>
          <p:cNvSpPr/>
          <p:nvPr/>
        </p:nvSpPr>
        <p:spPr>
          <a:xfrm>
            <a:off x="4104640" y="3695695"/>
            <a:ext cx="4907280" cy="51815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3. Smart Farming Adoption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F938CE-0498-D683-D254-3CFB5C3A6CDB}"/>
              </a:ext>
            </a:extLst>
          </p:cNvPr>
          <p:cNvSpPr/>
          <p:nvPr/>
        </p:nvSpPr>
        <p:spPr>
          <a:xfrm>
            <a:off x="4104640" y="4450080"/>
            <a:ext cx="4907280" cy="589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4. Data-Driven Decision Making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D11E1C-FD59-2A26-CC05-283535F45C4F}"/>
              </a:ext>
            </a:extLst>
          </p:cNvPr>
          <p:cNvSpPr/>
          <p:nvPr/>
        </p:nvSpPr>
        <p:spPr>
          <a:xfrm>
            <a:off x="4104640" y="5557520"/>
            <a:ext cx="4978400" cy="4673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5. Sustainable Agriculture Growth</a:t>
            </a:r>
          </a:p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813C4E-200C-8810-7827-4D926BF895C0}"/>
              </a:ext>
            </a:extLst>
          </p:cNvPr>
          <p:cNvSpPr/>
          <p:nvPr/>
        </p:nvSpPr>
        <p:spPr>
          <a:xfrm>
            <a:off x="355600" y="1354238"/>
            <a:ext cx="2956560" cy="21103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smart irrigation assistant, allowing farmers to optimize water usage, reduce wastage, and improve efficiency over time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1BB36C-B5F8-E447-ABC7-67E5F2BBAC79}"/>
              </a:ext>
            </a:extLst>
          </p:cNvPr>
          <p:cNvSpPr/>
          <p:nvPr/>
        </p:nvSpPr>
        <p:spPr>
          <a:xfrm>
            <a:off x="477520" y="3784922"/>
            <a:ext cx="2834640" cy="25001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empowering farmers with insights into soil conditions, weather forecasts, and crop needs, the system supports better decision-making in day-to-day farming activities.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FE52D2-B100-B0D0-3C13-4E60D178F05D}"/>
              </a:ext>
            </a:extLst>
          </p:cNvPr>
          <p:cNvSpPr/>
          <p:nvPr/>
        </p:nvSpPr>
        <p:spPr>
          <a:xfrm>
            <a:off x="9387068" y="972272"/>
            <a:ext cx="2591572" cy="22890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replacing fixed irrigation schedules with real-time data, the system ensures water is used only when required, improving both water and energy efficiency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4086DE-FD48-3907-138E-38E023C75FDA}"/>
              </a:ext>
            </a:extLst>
          </p:cNvPr>
          <p:cNvSpPr/>
          <p:nvPr/>
        </p:nvSpPr>
        <p:spPr>
          <a:xfrm>
            <a:off x="9387068" y="3464560"/>
            <a:ext cx="2520452" cy="3048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Provides a simple and accessible tool for farmers and agricultural officers to monitor irrigation needs and take timely actions for better crop management.</a:t>
            </a:r>
            <a:endParaRPr lang="en-IN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1FF7DC0-6E34-FE75-1215-6197453ECA78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3332480" y="2010407"/>
            <a:ext cx="772160" cy="4965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D908F4C5-FCAA-8F9B-12B9-9DB283A099FF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9011920" y="3954775"/>
            <a:ext cx="375148" cy="10337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4A5AC51-1A95-AA50-17DB-BD76D06BF89C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332480" y="4185920"/>
            <a:ext cx="772160" cy="55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C460D12F-6FEA-3818-D7EF-30760061B048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9011920" y="2116816"/>
            <a:ext cx="375148" cy="91593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itle 49">
            <a:extLst>
              <a:ext uri="{FF2B5EF4-FFF2-40B4-BE49-F238E27FC236}">
                <a16:creationId xmlns:a16="http://schemas.microsoft.com/office/drawing/2014/main" id="{95B815F9-0F72-5268-A784-98CC5D84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1"/>
            <a:ext cx="10515600" cy="7823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IMPACTS AND BENEFITS</a:t>
            </a:r>
          </a:p>
        </p:txBody>
      </p:sp>
    </p:spTree>
    <p:extLst>
      <p:ext uri="{BB962C8B-B14F-4D97-AF65-F5344CB8AC3E}">
        <p14:creationId xmlns:p14="http://schemas.microsoft.com/office/powerpoint/2010/main" val="76784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488 -0.24713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10488 -0.24713 L -0.1349 0.38446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1349 0.38446 L -0.24922 0.00938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0.00938 L 0.24922 0.25078" pathEditMode="relative" ptsTypes="AA">
                                      <p:cBhvr>
                                        <p:cTn id="17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25078 L 0.24922 -0.38446" pathEditMode="relative" ptsTypes="AA">
                                      <p:cBhvr>
                                        <p:cTn id="20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-0.38446 L 0 0" pathEditMode="relative" ptsTypes="AA">
                                      <p:cBhvr>
                                        <p:cTn id="23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5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5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0BB8F-371D-D60D-6E7A-1906C2E89A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252" y="0"/>
            <a:ext cx="1331650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B4ACF3-8616-16FD-A233-251DF286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771"/>
            <a:ext cx="10515600" cy="84495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108FA-404C-E535-3A44-235C0B8DB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514"/>
            <a:ext cx="10515600" cy="48574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Condition-Based Irrigation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Replaces fixed schedules with real-time decisions </a:t>
            </a:r>
          </a:p>
          <a:p>
            <a:r>
              <a:rPr lang="en-US" b="1" dirty="0"/>
              <a:t>Multi-Factor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Uses soil moisture, weather forecast, and crop data </a:t>
            </a:r>
          </a:p>
          <a:p>
            <a:r>
              <a:rPr lang="en-US" b="1" dirty="0"/>
              <a:t>Software-First Approach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Works without hardware using manual input (demo-ready) </a:t>
            </a:r>
          </a:p>
          <a:p>
            <a:r>
              <a:rPr lang="en-US" b="1" dirty="0"/>
              <a:t>Hardware-Ready Design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Can integrate with Arduino/ESP32 and sensors </a:t>
            </a:r>
          </a:p>
          <a:p>
            <a:r>
              <a:rPr lang="en-US" b="1" dirty="0"/>
              <a:t>Simple Farmer-Friendly Output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Clear result: Irrigate / Skip / Delay </a:t>
            </a:r>
          </a:p>
          <a:p>
            <a:r>
              <a:rPr lang="en-US" b="1" dirty="0"/>
              <a:t>Scalable &amp; Cost-Effective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Easy to deploy and expand for large-scale use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C069F-46F2-3848-A49D-E040D741B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77" y="1469984"/>
            <a:ext cx="3854370" cy="428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8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935 -0.07193" pathEditMode="relative" ptsTypes="AA">
                                      <p:cBhvr>
                                        <p:cTn id="6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3935 -0.07193 L 0.22285 0.24861" pathEditMode="relative" ptsTypes="AA">
                                      <p:cBhvr>
                                        <p:cTn id="11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2285 0.24861 L 0.31839 -0.21812" pathEditMode="relative" ptsTypes="AA">
                                      <p:cBhvr>
                                        <p:cTn id="14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31839 -0.21812 L 0 0" pathEditMode="relative" ptsTypes="AA">
                                      <p:cBhvr>
                                        <p:cTn id="17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9" dur="30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53AAD-42B9-A8A8-8E97-FC0636863F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63" y="0"/>
            <a:ext cx="12392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7CC628-5C67-46F7-495F-2D200691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2AA38F-7BCD-C0AA-B69A-C1C2D84A7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3023" y="976710"/>
            <a:ext cx="9463268" cy="303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irrigation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guesswork to data-driven decisions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and electricity wastage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efficiency and productivity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and scalable 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75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155 0.05334" pathEditMode="relative" ptsTypes="AA">
                                      <p:cBhvr>
                                        <p:cTn id="6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6155 0.05334 L 0.25021 -0.10111" pathEditMode="relative" ptsTypes="AA">
                                      <p:cBhvr>
                                        <p:cTn id="11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5021 -0.10111 L 0.02884 -0.24861" pathEditMode="relative" ptsTypes="AA">
                                      <p:cBhvr>
                                        <p:cTn id="14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2884 -0.24861 L 0.00299 0.07126" pathEditMode="relative" ptsTypes="AA">
                                      <p:cBhvr>
                                        <p:cTn id="17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0299 0.07126 L 0 0" pathEditMode="relative" ptsTypes="AA">
                                      <p:cBhvr>
                                        <p:cTn id="20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2" dur="30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5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DED5DE-C704-2FFA-B0F0-2F96D67A5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7000"/>
            <a:ext cx="12192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3A81BA-8EAC-D98B-D7EC-F6EA30C2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360"/>
            <a:ext cx="10515600" cy="3291840"/>
          </a:xfrm>
        </p:spPr>
        <p:txBody>
          <a:bodyPr>
            <a:norm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960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196 0.26541" pathEditMode="relative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16196 0.26541 L 0.24922 -0.40871" pathEditMode="relative" ptsTypes="AA">
                                      <p:cBhvr>
                                        <p:cTn id="11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-0.40871 L 0.24922 0.5146" pathEditMode="relative" ptsTypes="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5146 L 0.11698 -0.42226" pathEditMode="relative" ptsTypes="AA">
                                      <p:cBhvr>
                                        <p:cTn id="17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11698 -0.42226 L 0 0" pathEditMode="relative" ptsTypes="AA">
                                      <p:cBhvr>
                                        <p:cTn id="20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2" dur="3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5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472</Words>
  <Application>Microsoft Macintosh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ST-09 Smart Irrigation Water Management System for Farmers</vt:lpstr>
      <vt:lpstr>PowerPoint Presentation</vt:lpstr>
      <vt:lpstr>APPROACH:</vt:lpstr>
      <vt:lpstr>PowerPoint Presentation</vt:lpstr>
      <vt:lpstr>         IMPACTS AND BENEFITS</vt:lpstr>
      <vt:lpstr>INNOVATION &amp; UNIQUENESS: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Venkatesh Paruchuri</dc:creator>
  <cp:lastModifiedBy>Sanju's Macbook</cp:lastModifiedBy>
  <cp:revision>4</cp:revision>
  <dcterms:created xsi:type="dcterms:W3CDTF">2026-04-06T06:14:49Z</dcterms:created>
  <dcterms:modified xsi:type="dcterms:W3CDTF">2026-04-06T11:33:38Z</dcterms:modified>
</cp:coreProperties>
</file>